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Sora SemiBold"/>
      <p:regular r:id="rId23"/>
      <p:bold r:id="rId24"/>
    </p:embeddedFont>
    <p:embeddedFont>
      <p:font typeface="Sora Light"/>
      <p:regular r:id="rId25"/>
      <p:bold r:id="rId26"/>
    </p:embeddedFont>
    <p:embeddedFont>
      <p:font typeface="Sora ExtraLight"/>
      <p:regular r:id="rId27"/>
      <p:bold r:id="rId28"/>
    </p:embeddedFont>
    <p:embeddedFont>
      <p:font typeface="Sora ExtraBold"/>
      <p:bold r:id="rId29"/>
    </p:embeddedFont>
    <p:embeddedFont>
      <p:font typeface="Sora"/>
      <p:regular r:id="rId30"/>
      <p:bold r:id="rId31"/>
    </p:embeddedFont>
    <p:embeddedFont>
      <p:font typeface="Sora Medium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F0AD57-1CBC-4137-B78F-BD167C8B88C3}">
  <a:tblStyle styleId="{04F0AD57-1CBC-4137-B78F-BD167C8B88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81A0156-AFD6-467F-847C-F2A3429DA5D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raLight-bold.fntdata"/><Relationship Id="rId25" Type="http://schemas.openxmlformats.org/officeDocument/2006/relationships/font" Target="fonts/SoraLight-regular.fntdata"/><Relationship Id="rId28" Type="http://schemas.openxmlformats.org/officeDocument/2006/relationships/font" Target="fonts/SoraExtraLight-bold.fntdata"/><Relationship Id="rId27" Type="http://schemas.openxmlformats.org/officeDocument/2006/relationships/font" Target="fonts/SoraExtra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ora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-bold.fntdata"/><Relationship Id="rId30" Type="http://schemas.openxmlformats.org/officeDocument/2006/relationships/font" Target="fonts/Sora-regular.fntdata"/><Relationship Id="rId11" Type="http://schemas.openxmlformats.org/officeDocument/2006/relationships/slide" Target="slides/slide6.xml"/><Relationship Id="rId33" Type="http://schemas.openxmlformats.org/officeDocument/2006/relationships/font" Target="fonts/SoraMedium-bold.fntdata"/><Relationship Id="rId10" Type="http://schemas.openxmlformats.org/officeDocument/2006/relationships/slide" Target="slides/slide5.xml"/><Relationship Id="rId32" Type="http://schemas.openxmlformats.org/officeDocument/2006/relationships/font" Target="fonts/SoraMedium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4018c82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44018c82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842dde828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842dde828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842dde82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842dde82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4060fbbfc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44060fbbfc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842dde82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842dde82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842dde82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842dde82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3c1aa37d5_0_27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43c1aa37d5_0_27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842dde82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842dde82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42dde828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842dde82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842dde828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842dde828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842dde82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842dde82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842dde828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842dde828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842dde828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842dde828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842dde82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842dde82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842dde828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842dde828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842dde828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842dde828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842dde828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c842dde828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983150" y="759188"/>
            <a:ext cx="3321300" cy="30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38900" y="3970225"/>
            <a:ext cx="4009800" cy="36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6397483" y="1375533"/>
            <a:ext cx="1709100" cy="16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0" y="-1912"/>
            <a:ext cx="5401200" cy="5143500"/>
          </a:xfrm>
          <a:prstGeom prst="rect">
            <a:avLst/>
          </a:prstGeom>
          <a:solidFill>
            <a:schemeClr val="lt2">
              <a:alpha val="6131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896150" y="1929029"/>
            <a:ext cx="27432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896152" y="936075"/>
            <a:ext cx="2743200" cy="9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dk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908819" y="3380326"/>
            <a:ext cx="2718000" cy="8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6059125" y="1391250"/>
            <a:ext cx="1709700" cy="1678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-15000" y="1748107"/>
            <a:ext cx="9174000" cy="339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017725"/>
            <a:ext cx="7704000" cy="3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-15000"/>
            <a:ext cx="4572000" cy="515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5274400" y="526550"/>
            <a:ext cx="29076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5274400" y="2592950"/>
            <a:ext cx="29076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5274400" y="965450"/>
            <a:ext cx="2907600" cy="16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5274400" y="3031850"/>
            <a:ext cx="2907600" cy="16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◆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715100" y="2151150"/>
            <a:ext cx="31497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3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rot="10800000">
            <a:off x="4745562" y="-15000"/>
            <a:ext cx="4413000" cy="515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5162175" y="2151150"/>
            <a:ext cx="33741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720000" y="1678875"/>
            <a:ext cx="31359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720000" y="2386244"/>
            <a:ext cx="3135900" cy="10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500"/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5000" y="7"/>
            <a:ext cx="9174000" cy="339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1115550" y="535000"/>
            <a:ext cx="6912900" cy="18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accent4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flipH="1">
            <a:off x="225" y="0"/>
            <a:ext cx="47592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5226350" y="2150850"/>
            <a:ext cx="328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685500" y="1462800"/>
            <a:ext cx="3562500" cy="22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5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 flipH="1" rot="10800000">
            <a:off x="-15000" y="3395485"/>
            <a:ext cx="9174000" cy="17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1284000" y="10011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1284000" y="4041100"/>
            <a:ext cx="6576000" cy="3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3276150" y="0"/>
            <a:ext cx="5882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3"/>
          <p:cNvSpPr txBox="1"/>
          <p:nvPr>
            <p:ph hasCustomPrompt="1" type="title"/>
          </p:nvPr>
        </p:nvSpPr>
        <p:spPr>
          <a:xfrm>
            <a:off x="4210925" y="517588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616775" y="1196636"/>
            <a:ext cx="2463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2" type="title"/>
          </p:nvPr>
        </p:nvSpPr>
        <p:spPr>
          <a:xfrm>
            <a:off x="6677221" y="517600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3" type="subTitle"/>
          </p:nvPr>
        </p:nvSpPr>
        <p:spPr>
          <a:xfrm>
            <a:off x="6080371" y="1196648"/>
            <a:ext cx="2469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4" type="title"/>
          </p:nvPr>
        </p:nvSpPr>
        <p:spPr>
          <a:xfrm>
            <a:off x="4210925" y="1986888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5" type="subTitle"/>
          </p:nvPr>
        </p:nvSpPr>
        <p:spPr>
          <a:xfrm>
            <a:off x="3616775" y="2665936"/>
            <a:ext cx="2463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6" type="title"/>
          </p:nvPr>
        </p:nvSpPr>
        <p:spPr>
          <a:xfrm>
            <a:off x="6677221" y="1998438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idx="7" type="subTitle"/>
          </p:nvPr>
        </p:nvSpPr>
        <p:spPr>
          <a:xfrm>
            <a:off x="6083071" y="2665936"/>
            <a:ext cx="2463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8" type="title"/>
          </p:nvPr>
        </p:nvSpPr>
        <p:spPr>
          <a:xfrm>
            <a:off x="4210925" y="3456200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idx="9" type="subTitle"/>
          </p:nvPr>
        </p:nvSpPr>
        <p:spPr>
          <a:xfrm>
            <a:off x="3614075" y="4123703"/>
            <a:ext cx="2469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13" type="title"/>
          </p:nvPr>
        </p:nvSpPr>
        <p:spPr>
          <a:xfrm>
            <a:off x="6677221" y="3456200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14" type="subTitle"/>
          </p:nvPr>
        </p:nvSpPr>
        <p:spPr>
          <a:xfrm>
            <a:off x="6083071" y="4123703"/>
            <a:ext cx="2463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5" type="title"/>
          </p:nvPr>
        </p:nvSpPr>
        <p:spPr>
          <a:xfrm>
            <a:off x="602450" y="2009400"/>
            <a:ext cx="2262900" cy="11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6" type="subTitle"/>
          </p:nvPr>
        </p:nvSpPr>
        <p:spPr>
          <a:xfrm>
            <a:off x="3616775" y="940750"/>
            <a:ext cx="2463600" cy="25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7" type="subTitle"/>
          </p:nvPr>
        </p:nvSpPr>
        <p:spPr>
          <a:xfrm>
            <a:off x="6080371" y="940759"/>
            <a:ext cx="2469000" cy="25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8" type="subTitle"/>
          </p:nvPr>
        </p:nvSpPr>
        <p:spPr>
          <a:xfrm>
            <a:off x="3616775" y="2409963"/>
            <a:ext cx="2463600" cy="24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9" type="subTitle"/>
          </p:nvPr>
        </p:nvSpPr>
        <p:spPr>
          <a:xfrm>
            <a:off x="6083071" y="2409963"/>
            <a:ext cx="2463600" cy="24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20" type="subTitle"/>
          </p:nvPr>
        </p:nvSpPr>
        <p:spPr>
          <a:xfrm>
            <a:off x="3614075" y="3867800"/>
            <a:ext cx="2469000" cy="25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21" type="subTitle"/>
          </p:nvPr>
        </p:nvSpPr>
        <p:spPr>
          <a:xfrm>
            <a:off x="6083071" y="3867800"/>
            <a:ext cx="2463600" cy="25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accen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-15000" y="7"/>
            <a:ext cx="9174000" cy="339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type="title"/>
          </p:nvPr>
        </p:nvSpPr>
        <p:spPr>
          <a:xfrm>
            <a:off x="2290025" y="3933500"/>
            <a:ext cx="456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992075" y="535000"/>
            <a:ext cx="7159800" cy="21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 flipH="1">
            <a:off x="5319300" y="0"/>
            <a:ext cx="4011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524200" y="2602925"/>
            <a:ext cx="45993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524200" y="1498275"/>
            <a:ext cx="45993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" name="Google Shape;80;p15"/>
          <p:cNvSpPr/>
          <p:nvPr>
            <p:ph idx="2" type="pic"/>
          </p:nvPr>
        </p:nvSpPr>
        <p:spPr>
          <a:xfrm>
            <a:off x="6007000" y="1304850"/>
            <a:ext cx="2533800" cy="2533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accen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3652400" y="0"/>
            <a:ext cx="5506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5171150" y="856700"/>
            <a:ext cx="2469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2" type="subTitle"/>
          </p:nvPr>
        </p:nvSpPr>
        <p:spPr>
          <a:xfrm>
            <a:off x="5171150" y="1312788"/>
            <a:ext cx="2469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3" type="subTitle"/>
          </p:nvPr>
        </p:nvSpPr>
        <p:spPr>
          <a:xfrm>
            <a:off x="5171150" y="2557388"/>
            <a:ext cx="2469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4" type="subTitle"/>
          </p:nvPr>
        </p:nvSpPr>
        <p:spPr>
          <a:xfrm>
            <a:off x="5171150" y="3801988"/>
            <a:ext cx="2469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720000" y="2009400"/>
            <a:ext cx="24414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5" type="subTitle"/>
          </p:nvPr>
        </p:nvSpPr>
        <p:spPr>
          <a:xfrm>
            <a:off x="5171150" y="2101300"/>
            <a:ext cx="2469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6" type="subTitle"/>
          </p:nvPr>
        </p:nvSpPr>
        <p:spPr>
          <a:xfrm>
            <a:off x="5171150" y="3345900"/>
            <a:ext cx="2469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 flipH="1">
            <a:off x="225" y="1137150"/>
            <a:ext cx="9144000" cy="40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2" name="Google Shape;92;p17"/>
          <p:cNvSpPr txBox="1"/>
          <p:nvPr>
            <p:ph idx="1" type="subTitle"/>
          </p:nvPr>
        </p:nvSpPr>
        <p:spPr>
          <a:xfrm>
            <a:off x="719998" y="1423175"/>
            <a:ext cx="2469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2" type="subTitle"/>
          </p:nvPr>
        </p:nvSpPr>
        <p:spPr>
          <a:xfrm>
            <a:off x="719988" y="1862075"/>
            <a:ext cx="2469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3" type="subTitle"/>
          </p:nvPr>
        </p:nvSpPr>
        <p:spPr>
          <a:xfrm>
            <a:off x="5954893" y="1862075"/>
            <a:ext cx="2469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4" type="subTitle"/>
          </p:nvPr>
        </p:nvSpPr>
        <p:spPr>
          <a:xfrm>
            <a:off x="719988" y="3616725"/>
            <a:ext cx="2469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5" type="subTitle"/>
          </p:nvPr>
        </p:nvSpPr>
        <p:spPr>
          <a:xfrm>
            <a:off x="5954893" y="3616725"/>
            <a:ext cx="2469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720000" y="384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6" type="subTitle"/>
          </p:nvPr>
        </p:nvSpPr>
        <p:spPr>
          <a:xfrm>
            <a:off x="719998" y="3185450"/>
            <a:ext cx="2469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7" type="subTitle"/>
          </p:nvPr>
        </p:nvSpPr>
        <p:spPr>
          <a:xfrm>
            <a:off x="5954899" y="1423175"/>
            <a:ext cx="2469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8" type="subTitle"/>
          </p:nvPr>
        </p:nvSpPr>
        <p:spPr>
          <a:xfrm>
            <a:off x="5954899" y="3185450"/>
            <a:ext cx="24690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accent6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 flipH="1">
            <a:off x="-50" y="0"/>
            <a:ext cx="358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528825" y="2009400"/>
            <a:ext cx="2970900" cy="11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" type="subTitle"/>
          </p:nvPr>
        </p:nvSpPr>
        <p:spPr>
          <a:xfrm>
            <a:off x="3947762" y="1149161"/>
            <a:ext cx="20988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2" type="subTitle"/>
          </p:nvPr>
        </p:nvSpPr>
        <p:spPr>
          <a:xfrm>
            <a:off x="3943350" y="2525861"/>
            <a:ext cx="2102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3" type="subTitle"/>
          </p:nvPr>
        </p:nvSpPr>
        <p:spPr>
          <a:xfrm>
            <a:off x="6438875" y="2525861"/>
            <a:ext cx="209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4" type="subTitle"/>
          </p:nvPr>
        </p:nvSpPr>
        <p:spPr>
          <a:xfrm>
            <a:off x="6445466" y="1149153"/>
            <a:ext cx="209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5" type="subTitle"/>
          </p:nvPr>
        </p:nvSpPr>
        <p:spPr>
          <a:xfrm>
            <a:off x="3943350" y="3948453"/>
            <a:ext cx="2102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6" type="subTitle"/>
          </p:nvPr>
        </p:nvSpPr>
        <p:spPr>
          <a:xfrm>
            <a:off x="6438875" y="3948453"/>
            <a:ext cx="2096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7" type="subTitle"/>
          </p:nvPr>
        </p:nvSpPr>
        <p:spPr>
          <a:xfrm>
            <a:off x="3943362" y="710250"/>
            <a:ext cx="20988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8" type="subTitle"/>
          </p:nvPr>
        </p:nvSpPr>
        <p:spPr>
          <a:xfrm>
            <a:off x="3943350" y="2086950"/>
            <a:ext cx="21027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9" type="subTitle"/>
          </p:nvPr>
        </p:nvSpPr>
        <p:spPr>
          <a:xfrm>
            <a:off x="6443272" y="2086950"/>
            <a:ext cx="20964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13" type="subTitle"/>
          </p:nvPr>
        </p:nvSpPr>
        <p:spPr>
          <a:xfrm>
            <a:off x="6441069" y="710250"/>
            <a:ext cx="20964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4" type="subTitle"/>
          </p:nvPr>
        </p:nvSpPr>
        <p:spPr>
          <a:xfrm>
            <a:off x="3943350" y="3509550"/>
            <a:ext cx="21027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5" type="subTitle"/>
          </p:nvPr>
        </p:nvSpPr>
        <p:spPr>
          <a:xfrm>
            <a:off x="6443272" y="3509550"/>
            <a:ext cx="2096400" cy="43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solidFill>
                  <a:schemeClr val="accen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4759425" y="0"/>
            <a:ext cx="4384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8" name="Google Shape;118;p19"/>
          <p:cNvSpPr txBox="1"/>
          <p:nvPr>
            <p:ph idx="1" type="subTitle"/>
          </p:nvPr>
        </p:nvSpPr>
        <p:spPr>
          <a:xfrm>
            <a:off x="5832550" y="1120250"/>
            <a:ext cx="22770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hasCustomPrompt="1" type="title"/>
          </p:nvPr>
        </p:nvSpPr>
        <p:spPr>
          <a:xfrm>
            <a:off x="5832550" y="2042475"/>
            <a:ext cx="22770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5832550" y="2593500"/>
            <a:ext cx="22770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hasCustomPrompt="1" idx="3" type="title"/>
          </p:nvPr>
        </p:nvSpPr>
        <p:spPr>
          <a:xfrm>
            <a:off x="5832550" y="3515738"/>
            <a:ext cx="22770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19"/>
          <p:cNvSpPr txBox="1"/>
          <p:nvPr>
            <p:ph idx="4" type="subTitle"/>
          </p:nvPr>
        </p:nvSpPr>
        <p:spPr>
          <a:xfrm>
            <a:off x="5832550" y="4069088"/>
            <a:ext cx="22770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hasCustomPrompt="1" idx="5" type="title"/>
          </p:nvPr>
        </p:nvSpPr>
        <p:spPr>
          <a:xfrm>
            <a:off x="5832550" y="569200"/>
            <a:ext cx="22770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4" name="Google Shape;124;p19"/>
          <p:cNvSpPr txBox="1"/>
          <p:nvPr>
            <p:ph idx="6" type="title"/>
          </p:nvPr>
        </p:nvSpPr>
        <p:spPr>
          <a:xfrm>
            <a:off x="727375" y="2022225"/>
            <a:ext cx="2441400" cy="11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accent4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751350" y="462650"/>
            <a:ext cx="7785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20"/>
          <p:cNvSpPr/>
          <p:nvPr/>
        </p:nvSpPr>
        <p:spPr>
          <a:xfrm flipH="1">
            <a:off x="225" y="1137150"/>
            <a:ext cx="9144000" cy="40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751350" y="462650"/>
            <a:ext cx="7785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0" name="Google Shape;130;p21"/>
          <p:cNvSpPr/>
          <p:nvPr/>
        </p:nvSpPr>
        <p:spPr>
          <a:xfrm flipH="1">
            <a:off x="225" y="1137150"/>
            <a:ext cx="9144000" cy="40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bg>
      <p:bgPr>
        <a:solidFill>
          <a:schemeClr val="accent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/>
          <p:nvPr/>
        </p:nvSpPr>
        <p:spPr>
          <a:xfrm>
            <a:off x="4759425" y="0"/>
            <a:ext cx="4384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5226350" y="2150850"/>
            <a:ext cx="328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4" name="Google Shape;134;p22"/>
          <p:cNvSpPr txBox="1"/>
          <p:nvPr>
            <p:ph idx="1" type="subTitle"/>
          </p:nvPr>
        </p:nvSpPr>
        <p:spPr>
          <a:xfrm>
            <a:off x="5226350" y="3060850"/>
            <a:ext cx="3285300" cy="5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2">
    <p:bg>
      <p:bgPr>
        <a:solidFill>
          <a:schemeClr val="accent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 flipH="1" rot="10800000">
            <a:off x="0" y="-15000"/>
            <a:ext cx="4714200" cy="515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5162175" y="2151150"/>
            <a:ext cx="33741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_1">
    <p:bg>
      <p:bgPr>
        <a:solidFill>
          <a:schemeClr val="accent6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ctrTitle"/>
          </p:nvPr>
        </p:nvSpPr>
        <p:spPr>
          <a:xfrm>
            <a:off x="2429950" y="53500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0" name="Google Shape;140;p24"/>
          <p:cNvSpPr txBox="1"/>
          <p:nvPr>
            <p:ph idx="1" type="subTitle"/>
          </p:nvPr>
        </p:nvSpPr>
        <p:spPr>
          <a:xfrm>
            <a:off x="2425075" y="1615650"/>
            <a:ext cx="42939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" name="Google Shape;141;p24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Sora"/>
                <a:ea typeface="Sora"/>
                <a:cs typeface="Sora"/>
                <a:sym typeface="Sor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, and includes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Sora"/>
                <a:ea typeface="Sora"/>
                <a:cs typeface="Sora"/>
                <a:sym typeface="So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Sora"/>
                <a:ea typeface="Sora"/>
                <a:cs typeface="Sora"/>
                <a:sym typeface="S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b="1"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-11975" y="-31975"/>
            <a:ext cx="9168000" cy="322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1">
    <p:bg>
      <p:bgPr>
        <a:solidFill>
          <a:schemeClr val="l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Sora ExtraLight"/>
              <a:buNone/>
              <a:defRPr sz="35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●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○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■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●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○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■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●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Light"/>
              <a:buChar char="○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 Light"/>
              <a:buChar char="■"/>
              <a:defRPr>
                <a:solidFill>
                  <a:schemeClr val="dk1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0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ctrTitle"/>
          </p:nvPr>
        </p:nvSpPr>
        <p:spPr>
          <a:xfrm>
            <a:off x="0" y="467100"/>
            <a:ext cx="5412000" cy="30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latin typeface="Sora"/>
                <a:ea typeface="Sora"/>
                <a:cs typeface="Sora"/>
                <a:sym typeface="Sora"/>
              </a:rPr>
              <a:t> </a:t>
            </a:r>
            <a:r>
              <a:rPr b="1" lang="en" sz="4500">
                <a:latin typeface="Sora"/>
                <a:ea typeface="Sora"/>
                <a:cs typeface="Sora"/>
                <a:sym typeface="Sora"/>
              </a:rPr>
              <a:t>Google Step Up Challenge</a:t>
            </a:r>
            <a:endParaRPr b="1" sz="6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27"/>
          <p:cNvSpPr txBox="1"/>
          <p:nvPr>
            <p:ph idx="1" type="subTitle"/>
          </p:nvPr>
        </p:nvSpPr>
        <p:spPr>
          <a:xfrm>
            <a:off x="701100" y="4021550"/>
            <a:ext cx="4009800" cy="4401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1"/>
                </a:solidFill>
                <a:latin typeface="Sora Medium"/>
                <a:ea typeface="Sora Medium"/>
                <a:cs typeface="Sora Medium"/>
                <a:sym typeface="Sora Medium"/>
              </a:rPr>
              <a:t>Data Science Route</a:t>
            </a:r>
            <a:endParaRPr sz="1800">
              <a:solidFill>
                <a:schemeClr val="accen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51" name="Google Shape;151;p27"/>
          <p:cNvSpPr txBox="1"/>
          <p:nvPr>
            <p:ph idx="1" type="subTitle"/>
          </p:nvPr>
        </p:nvSpPr>
        <p:spPr>
          <a:xfrm>
            <a:off x="-273750" y="2807250"/>
            <a:ext cx="5959500" cy="4893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Power Google's Gemini Pro Breakthrough!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6594975" y="47895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      </a:t>
            </a:r>
            <a:r>
              <a:rPr lang="en" sz="1100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- Chrisvyn Visha Kanatazan -</a:t>
            </a:r>
            <a:endParaRPr sz="1100"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/>
          </a:blip>
          <a:srcRect b="7661" l="30241" r="29607" t="9150"/>
          <a:stretch/>
        </p:blipFill>
        <p:spPr>
          <a:xfrm>
            <a:off x="6210525" y="432450"/>
            <a:ext cx="2149200" cy="42786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720000" y="2641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Sora ExtraBold"/>
                <a:ea typeface="Sora ExtraBold"/>
                <a:cs typeface="Sora ExtraBold"/>
                <a:sym typeface="Sora ExtraBold"/>
              </a:rPr>
              <a:t>Contents </a:t>
            </a:r>
            <a:endParaRPr sz="4000"/>
          </a:p>
        </p:txBody>
      </p:sp>
      <p:sp>
        <p:nvSpPr>
          <p:cNvPr id="159" name="Google Shape;159;p28"/>
          <p:cNvSpPr/>
          <p:nvPr/>
        </p:nvSpPr>
        <p:spPr>
          <a:xfrm rot="5400000">
            <a:off x="-644750" y="539150"/>
            <a:ext cx="1280100" cy="12801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/>
          <p:nvPr/>
        </p:nvSpPr>
        <p:spPr>
          <a:xfrm>
            <a:off x="8611925" y="4217100"/>
            <a:ext cx="993300" cy="9933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1" name="Google Shape;161;p28"/>
          <p:cNvGraphicFramePr/>
          <p:nvPr/>
        </p:nvGraphicFramePr>
        <p:xfrm>
          <a:off x="542813" y="132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{04F0AD57-1CBC-4137-B78F-BD167C8B88C3}</a:tableStyleId>
              </a:tblPr>
              <a:tblGrid>
                <a:gridCol w="2592225"/>
                <a:gridCol w="5466150"/>
              </a:tblGrid>
              <a:tr h="5767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Introduction and Goals</a:t>
                      </a:r>
                      <a:endParaRPr b="1">
                        <a:solidFill>
                          <a:schemeClr val="accen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Defining the $10M launch strategy to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drive student sign-ups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 for Gemini Pro across three high-impact markets.</a:t>
                      </a:r>
                      <a:endParaRPr sz="1300">
                        <a:solidFill>
                          <a:schemeClr val="dk1"/>
                        </a:solidFill>
                        <a:latin typeface="Sora Light"/>
                        <a:ea typeface="Sora Light"/>
                        <a:cs typeface="Sora Light"/>
                        <a:sym typeface="Sora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Trend Analysis</a:t>
                      </a:r>
                      <a:endParaRPr b="1">
                        <a:solidFill>
                          <a:schemeClr val="accen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Identifying historical market and channel leaders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 in conversion volume and CPA efficiency.</a:t>
                      </a:r>
                      <a:endParaRPr sz="1300">
                        <a:solidFill>
                          <a:schemeClr val="dk1"/>
                        </a:solidFill>
                        <a:latin typeface="Sora Light"/>
                        <a:ea typeface="Sora Light"/>
                        <a:cs typeface="Sora Light"/>
                        <a:sym typeface="Sora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0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Factors for Brand Lifting</a:t>
                      </a:r>
                      <a:endParaRPr b="1">
                        <a:solidFill>
                          <a:schemeClr val="accen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Isolating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statistically significant campaigns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 and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CPLU metrics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to find the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most efficient drivers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of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brand consideration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.</a:t>
                      </a:r>
                      <a:endParaRPr sz="1300">
                        <a:solidFill>
                          <a:schemeClr val="dk1"/>
                        </a:solidFill>
                        <a:latin typeface="Sora Light"/>
                        <a:ea typeface="Sora Light"/>
                        <a:cs typeface="Sora Light"/>
                        <a:sym typeface="Sora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Best Adverts</a:t>
                      </a:r>
                      <a:endParaRPr b="1">
                        <a:solidFill>
                          <a:schemeClr val="accen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Ranking creative resonanc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e for the 18-24 demographic to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select high-performing assets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.</a:t>
                      </a:r>
                      <a:endParaRPr sz="1300">
                        <a:solidFill>
                          <a:schemeClr val="dk1"/>
                        </a:solidFill>
                        <a:latin typeface="Sora Light"/>
                        <a:ea typeface="Sora Light"/>
                        <a:cs typeface="Sora Light"/>
                        <a:sym typeface="Sora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9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Strategy Recommendations</a:t>
                      </a:r>
                      <a:endParaRPr b="1">
                        <a:solidFill>
                          <a:schemeClr val="accent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Providing a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data-backed strategy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 for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 optimal budget allocation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 and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creative selection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ra Light"/>
                          <a:ea typeface="Sora Light"/>
                          <a:cs typeface="Sora Light"/>
                          <a:sym typeface="Sora Light"/>
                        </a:rPr>
                        <a:t> to maximize sign-ups.</a:t>
                      </a:r>
                      <a:endParaRPr sz="1300">
                        <a:solidFill>
                          <a:schemeClr val="dk1"/>
                        </a:solidFill>
                        <a:latin typeface="Sora Light"/>
                        <a:ea typeface="Sora Light"/>
                        <a:cs typeface="Sora Light"/>
                        <a:sym typeface="Sora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idx="4294967295" type="title"/>
          </p:nvPr>
        </p:nvSpPr>
        <p:spPr>
          <a:xfrm>
            <a:off x="3013511" y="1247793"/>
            <a:ext cx="3117000" cy="1005900"/>
          </a:xfrm>
          <a:prstGeom prst="rect">
            <a:avLst/>
          </a:prstGeom>
        </p:spPr>
        <p:txBody>
          <a:bodyPr anchorCtr="0" anchor="t" bIns="223450" lIns="223450" spcFirstLastPara="1" rIns="223450" wrap="square" tIns="22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54">
                <a:latin typeface="Sora ExtraBold"/>
                <a:ea typeface="Sora ExtraBold"/>
                <a:cs typeface="Sora ExtraBold"/>
                <a:sym typeface="Sora ExtraBold"/>
              </a:rPr>
              <a:t>01</a:t>
            </a:r>
            <a:endParaRPr sz="8554"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167" name="Google Shape;167;p29"/>
          <p:cNvSpPr txBox="1"/>
          <p:nvPr>
            <p:ph idx="4294967295" type="subTitle"/>
          </p:nvPr>
        </p:nvSpPr>
        <p:spPr>
          <a:xfrm>
            <a:off x="1561350" y="2786605"/>
            <a:ext cx="6021300" cy="625500"/>
          </a:xfrm>
          <a:prstGeom prst="rect">
            <a:avLst/>
          </a:prstGeom>
        </p:spPr>
        <p:txBody>
          <a:bodyPr anchorCtr="0" anchor="t" bIns="0" lIns="223450" spcFirstLastPara="1" rIns="22345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910"/>
              </a:spcAft>
              <a:buNone/>
            </a:pPr>
            <a:r>
              <a:rPr b="1" lang="en" sz="342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Introduction</a:t>
            </a:r>
            <a:r>
              <a:rPr b="1" lang="en" sz="342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and Goals</a:t>
            </a:r>
            <a:endParaRPr b="1" sz="342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29"/>
          <p:cNvSpPr/>
          <p:nvPr/>
        </p:nvSpPr>
        <p:spPr>
          <a:xfrm rot="-8100000">
            <a:off x="8611023" y="-80402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/>
          <p:nvPr/>
        </p:nvSpPr>
        <p:spPr>
          <a:xfrm rot="-8100000">
            <a:off x="8611023" y="861898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/>
          <p:nvPr/>
        </p:nvSpPr>
        <p:spPr>
          <a:xfrm rot="-8100000">
            <a:off x="8611023" y="1808898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9"/>
          <p:cNvSpPr/>
          <p:nvPr/>
        </p:nvSpPr>
        <p:spPr>
          <a:xfrm rot="-8100000">
            <a:off x="-512152" y="412022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/>
          <p:nvPr/>
        </p:nvSpPr>
        <p:spPr>
          <a:xfrm rot="-8100000">
            <a:off x="-531077" y="319882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/>
          <p:nvPr/>
        </p:nvSpPr>
        <p:spPr>
          <a:xfrm rot="-8100000">
            <a:off x="-531077" y="2245198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"/>
          <p:cNvSpPr/>
          <p:nvPr/>
        </p:nvSpPr>
        <p:spPr>
          <a:xfrm>
            <a:off x="-495700" y="0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9"/>
          <p:cNvSpPr/>
          <p:nvPr/>
        </p:nvSpPr>
        <p:spPr>
          <a:xfrm>
            <a:off x="8646400" y="4155600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0" y="1825238"/>
            <a:ext cx="4792200" cy="15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Introduction and </a:t>
            </a:r>
            <a:endParaRPr b="1" sz="3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Goals</a:t>
            </a:r>
            <a:endParaRPr b="1" sz="3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1" name="Google Shape;181;p30"/>
          <p:cNvSpPr/>
          <p:nvPr/>
        </p:nvSpPr>
        <p:spPr>
          <a:xfrm>
            <a:off x="387125" y="183650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/>
          <p:nvPr/>
        </p:nvSpPr>
        <p:spPr>
          <a:xfrm>
            <a:off x="3591050" y="4167775"/>
            <a:ext cx="926100" cy="800700"/>
          </a:xfrm>
          <a:prstGeom prst="triangl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 txBox="1"/>
          <p:nvPr>
            <p:ph idx="4294967295" type="subTitle"/>
          </p:nvPr>
        </p:nvSpPr>
        <p:spPr>
          <a:xfrm>
            <a:off x="5796700" y="309075"/>
            <a:ext cx="2469000" cy="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rgbClr val="435D74"/>
                </a:solidFill>
                <a:latin typeface="Sora SemiBold"/>
                <a:ea typeface="Sora SemiBold"/>
                <a:cs typeface="Sora SemiBold"/>
                <a:sym typeface="Sora SemiBold"/>
              </a:rPr>
              <a:t>Objective</a:t>
            </a:r>
            <a:endParaRPr sz="2000">
              <a:solidFill>
                <a:srgbClr val="435D74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4" name="Google Shape;184;p30"/>
          <p:cNvSpPr txBox="1"/>
          <p:nvPr>
            <p:ph idx="4294967295" type="subTitle"/>
          </p:nvPr>
        </p:nvSpPr>
        <p:spPr>
          <a:xfrm>
            <a:off x="5148400" y="747975"/>
            <a:ext cx="3765600" cy="9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Optimize a $10M, 8-week launch for Gemini Pro by identifying high-impact historical drivers among university students (18-24).</a:t>
            </a:r>
            <a:endParaRPr sz="1500"/>
          </a:p>
        </p:txBody>
      </p:sp>
      <p:sp>
        <p:nvSpPr>
          <p:cNvPr id="185" name="Google Shape;185;p30"/>
          <p:cNvSpPr txBox="1"/>
          <p:nvPr>
            <p:ph idx="4294967295" type="subTitle"/>
          </p:nvPr>
        </p:nvSpPr>
        <p:spPr>
          <a:xfrm>
            <a:off x="5148400" y="2115675"/>
            <a:ext cx="3765600" cy="8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An evaluation of 1,600+ weeks of historical campaign data, 48 brand lift studies, and specific creative performance metrics.</a:t>
            </a:r>
            <a:endParaRPr sz="1200"/>
          </a:p>
        </p:txBody>
      </p:sp>
      <p:sp>
        <p:nvSpPr>
          <p:cNvPr id="186" name="Google Shape;186;p30"/>
          <p:cNvSpPr txBox="1"/>
          <p:nvPr>
            <p:ph idx="4294967295" type="subTitle"/>
          </p:nvPr>
        </p:nvSpPr>
        <p:spPr>
          <a:xfrm>
            <a:off x="5752425" y="1676775"/>
            <a:ext cx="2469000" cy="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rgbClr val="435D74"/>
                </a:solidFill>
                <a:latin typeface="Sora SemiBold"/>
                <a:ea typeface="Sora SemiBold"/>
                <a:cs typeface="Sora SemiBold"/>
                <a:sym typeface="Sora SemiBold"/>
              </a:rPr>
              <a:t>Datasets</a:t>
            </a:r>
            <a:endParaRPr sz="2000">
              <a:solidFill>
                <a:srgbClr val="435D74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7" name="Google Shape;187;p30"/>
          <p:cNvSpPr txBox="1"/>
          <p:nvPr>
            <p:ph idx="4294967295" type="subTitle"/>
          </p:nvPr>
        </p:nvSpPr>
        <p:spPr>
          <a:xfrm>
            <a:off x="5321650" y="3108375"/>
            <a:ext cx="3419100" cy="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5D74"/>
                </a:solidFill>
                <a:latin typeface="Sora SemiBold"/>
                <a:ea typeface="Sora SemiBold"/>
                <a:cs typeface="Sora SemiBold"/>
                <a:sym typeface="Sora SemiBold"/>
              </a:rPr>
              <a:t>Data Science Methods</a:t>
            </a:r>
            <a:endParaRPr sz="2000">
              <a:solidFill>
                <a:srgbClr val="435D74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435D74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188" name="Google Shape;188;p30"/>
          <p:cNvSpPr txBox="1"/>
          <p:nvPr>
            <p:ph idx="4294967295" type="subTitle"/>
          </p:nvPr>
        </p:nvSpPr>
        <p:spPr>
          <a:xfrm>
            <a:off x="5148400" y="3547275"/>
            <a:ext cx="3765600" cy="10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Applied Z-testing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Merged data to calculate CLPU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Cross-referenced point-estimates of consideration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idx="4294967295" type="title"/>
          </p:nvPr>
        </p:nvSpPr>
        <p:spPr>
          <a:xfrm>
            <a:off x="3013511" y="1247793"/>
            <a:ext cx="3117000" cy="1005900"/>
          </a:xfrm>
          <a:prstGeom prst="rect">
            <a:avLst/>
          </a:prstGeom>
        </p:spPr>
        <p:txBody>
          <a:bodyPr anchorCtr="0" anchor="t" bIns="223450" lIns="223450" spcFirstLastPara="1" rIns="223450" wrap="square" tIns="22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54">
                <a:latin typeface="Sora ExtraBold"/>
                <a:ea typeface="Sora ExtraBold"/>
                <a:cs typeface="Sora ExtraBold"/>
                <a:sym typeface="Sora ExtraBold"/>
              </a:rPr>
              <a:t>02</a:t>
            </a:r>
            <a:endParaRPr sz="8554"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194" name="Google Shape;194;p31"/>
          <p:cNvSpPr txBox="1"/>
          <p:nvPr>
            <p:ph idx="4294967295" type="subTitle"/>
          </p:nvPr>
        </p:nvSpPr>
        <p:spPr>
          <a:xfrm>
            <a:off x="1561350" y="2786605"/>
            <a:ext cx="6021300" cy="625500"/>
          </a:xfrm>
          <a:prstGeom prst="rect">
            <a:avLst/>
          </a:prstGeom>
        </p:spPr>
        <p:txBody>
          <a:bodyPr anchorCtr="0" anchor="t" bIns="0" lIns="223450" spcFirstLastPara="1" rIns="22345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910"/>
              </a:spcAft>
              <a:buNone/>
            </a:pPr>
            <a:r>
              <a:rPr b="1" lang="en" sz="3421">
                <a:solidFill>
                  <a:schemeClr val="accent1"/>
                </a:solidFill>
                <a:latin typeface="Sora"/>
                <a:ea typeface="Sora"/>
                <a:cs typeface="Sora"/>
                <a:sym typeface="Sora"/>
              </a:rPr>
              <a:t>Trend Analysis</a:t>
            </a:r>
            <a:endParaRPr b="1" sz="3421">
              <a:solidFill>
                <a:schemeClr val="accen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5" name="Google Shape;195;p31"/>
          <p:cNvSpPr/>
          <p:nvPr/>
        </p:nvSpPr>
        <p:spPr>
          <a:xfrm rot="-8100000">
            <a:off x="8611023" y="22501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"/>
          <p:cNvSpPr/>
          <p:nvPr/>
        </p:nvSpPr>
        <p:spPr>
          <a:xfrm rot="-8100000">
            <a:off x="8611023" y="31924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/>
          <p:nvPr/>
        </p:nvSpPr>
        <p:spPr>
          <a:xfrm rot="-8100000">
            <a:off x="8611023" y="41394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1"/>
          <p:cNvSpPr/>
          <p:nvPr/>
        </p:nvSpPr>
        <p:spPr>
          <a:xfrm rot="-8100000">
            <a:off x="-531077" y="1799410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/>
          <p:nvPr/>
        </p:nvSpPr>
        <p:spPr>
          <a:xfrm rot="-8100000">
            <a:off x="-550002" y="878010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/>
          <p:nvPr/>
        </p:nvSpPr>
        <p:spPr>
          <a:xfrm rot="-8100000">
            <a:off x="-550002" y="-75615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1"/>
          <p:cNvSpPr/>
          <p:nvPr/>
        </p:nvSpPr>
        <p:spPr>
          <a:xfrm>
            <a:off x="-514625" y="4155600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8646400" y="-40237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0" y="0"/>
            <a:ext cx="9144000" cy="932700"/>
          </a:xfrm>
          <a:prstGeom prst="rect">
            <a:avLst/>
          </a:prstGeom>
          <a:solidFill>
            <a:srgbClr val="435D74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accent6"/>
                </a:solidFill>
              </a:rPr>
              <a:t> Market Efficiency </a:t>
            </a:r>
            <a:endParaRPr sz="3300">
              <a:solidFill>
                <a:schemeClr val="accent6"/>
              </a:solidFill>
            </a:endParaRPr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463" y="1580263"/>
            <a:ext cx="4301974" cy="2966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9" name="Google Shape;209;p32"/>
          <p:cNvSpPr txBox="1"/>
          <p:nvPr/>
        </p:nvSpPr>
        <p:spPr>
          <a:xfrm>
            <a:off x="13475" y="984675"/>
            <a:ext cx="45720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Analysis reveals that the </a:t>
            </a:r>
            <a:r>
              <a:rPr lang="en" sz="1100">
                <a:solidFill>
                  <a:schemeClr val="dk1"/>
                </a:solidFill>
              </a:rPr>
              <a:t>expense of reaching target </a:t>
            </a:r>
            <a:r>
              <a:rPr lang="en" sz="1100"/>
              <a:t>students is globally consistent (~$0.046 per person), the cost to convert them varies significantly. The markets have been grouped into two distinct clusters:</a:t>
            </a:r>
            <a:endParaRPr sz="11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13475" y="2030600"/>
            <a:ext cx="4572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High-Efficiency Cluster (South Africa &amp; Egypt):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Average CPA:</a:t>
            </a:r>
            <a:r>
              <a:rPr lang="en" sz="1200"/>
              <a:t> </a:t>
            </a:r>
            <a:r>
              <a:rPr b="1" lang="en" sz="1200"/>
              <a:t>$12.75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The Data:</a:t>
            </a:r>
            <a:r>
              <a:rPr lang="en" sz="1200"/>
              <a:t> These markets share identical performance behaviors and represent our primary growth engine. Every $1 spent here generates </a:t>
            </a:r>
            <a:r>
              <a:rPr b="1" lang="en" sz="1200"/>
              <a:t>4x more sign-ups</a:t>
            </a:r>
            <a:r>
              <a:rPr lang="en" sz="1200"/>
              <a:t> than in European markets.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Strategic Investment Cluster (UK &amp; Germany):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Average CPA:</a:t>
            </a:r>
            <a:r>
              <a:rPr lang="en" sz="1200"/>
              <a:t> </a:t>
            </a:r>
            <a:r>
              <a:rPr b="1" lang="en" sz="1200"/>
              <a:t>$48.00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The Data:</a:t>
            </a:r>
            <a:r>
              <a:rPr lang="en" sz="1200"/>
              <a:t> These are "Premium" markets. They are essential for global brand presence but require a more surgical, creative-led approach to lower the cost of entry.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775925" y="2160738"/>
            <a:ext cx="33741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Channel Efficiency</a:t>
            </a:r>
            <a:endParaRPr sz="4100">
              <a:solidFill>
                <a:schemeClr val="dk2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16" name="Google Shape;216;p33"/>
          <p:cNvSpPr/>
          <p:nvPr/>
        </p:nvSpPr>
        <p:spPr>
          <a:xfrm>
            <a:off x="3117425" y="3893700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3"/>
          <p:cNvSpPr/>
          <p:nvPr/>
        </p:nvSpPr>
        <p:spPr>
          <a:xfrm rot="2700000">
            <a:off x="612635" y="644072"/>
            <a:ext cx="915138" cy="2774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/>
          <p:nvPr/>
        </p:nvSpPr>
        <p:spPr>
          <a:xfrm>
            <a:off x="4999350" y="757925"/>
            <a:ext cx="1280100" cy="73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Search </a:t>
            </a:r>
            <a:r>
              <a:rPr b="1" lang="en" sz="1200"/>
              <a:t>(Most efficient) </a:t>
            </a:r>
            <a:endParaRPr sz="25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 flipH="1">
            <a:off x="6233700" y="442450"/>
            <a:ext cx="26889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Delivers the lowest CPA globally at </a:t>
            </a:r>
            <a:r>
              <a:rPr b="1" lang="en" sz="1200"/>
              <a:t>$7.69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 captures interested students actively looking for AI tools.</a:t>
            </a:r>
            <a:endParaRPr sz="15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20" name="Google Shape;220;p33"/>
          <p:cNvSpPr/>
          <p:nvPr/>
        </p:nvSpPr>
        <p:spPr>
          <a:xfrm>
            <a:off x="4999362" y="2140871"/>
            <a:ext cx="1280100" cy="819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YouTube &amp; Social </a:t>
            </a:r>
            <a:endParaRPr sz="28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 flipH="1">
            <a:off x="6279450" y="1858638"/>
            <a:ext cx="2597400" cy="12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Average CPA of </a:t>
            </a:r>
            <a:r>
              <a:rPr b="1" lang="en" sz="1200"/>
              <a:t>$19.00</a:t>
            </a:r>
            <a:r>
              <a:rPr lang="en" sz="1200"/>
              <a:t>.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These are vital for reaching the 18-24 demographic at scale.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22" name="Google Shape;222;p33"/>
          <p:cNvSpPr/>
          <p:nvPr/>
        </p:nvSpPr>
        <p:spPr>
          <a:xfrm>
            <a:off x="5051675" y="3612914"/>
            <a:ext cx="1280100" cy="819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Display</a:t>
            </a:r>
            <a:endParaRPr sz="29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 flipH="1">
            <a:off x="6331950" y="3344750"/>
            <a:ext cx="2492400" cy="13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CPA of </a:t>
            </a:r>
            <a:r>
              <a:rPr b="1" lang="en" sz="1200"/>
              <a:t>$75.92 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Display is historically inefficient for this audience and will be deprioritized in the launch.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962975" y="868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idx="4294967295" type="title"/>
          </p:nvPr>
        </p:nvSpPr>
        <p:spPr>
          <a:xfrm>
            <a:off x="3013511" y="1247793"/>
            <a:ext cx="3117000" cy="1005900"/>
          </a:xfrm>
          <a:prstGeom prst="rect">
            <a:avLst/>
          </a:prstGeom>
        </p:spPr>
        <p:txBody>
          <a:bodyPr anchorCtr="0" anchor="t" bIns="223450" lIns="223450" spcFirstLastPara="1" rIns="223450" wrap="square" tIns="22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54">
                <a:latin typeface="Sora ExtraBold"/>
                <a:ea typeface="Sora ExtraBold"/>
                <a:cs typeface="Sora ExtraBold"/>
                <a:sym typeface="Sora ExtraBold"/>
              </a:rPr>
              <a:t>03</a:t>
            </a:r>
            <a:endParaRPr sz="8554"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30" name="Google Shape;230;p34"/>
          <p:cNvSpPr txBox="1"/>
          <p:nvPr>
            <p:ph idx="4294967295" type="subTitle"/>
          </p:nvPr>
        </p:nvSpPr>
        <p:spPr>
          <a:xfrm>
            <a:off x="1561350" y="2786605"/>
            <a:ext cx="6021300" cy="625500"/>
          </a:xfrm>
          <a:prstGeom prst="rect">
            <a:avLst/>
          </a:prstGeom>
        </p:spPr>
        <p:txBody>
          <a:bodyPr anchorCtr="0" anchor="t" bIns="0" lIns="223450" spcFirstLastPara="1" rIns="22345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910"/>
              </a:spcAft>
              <a:buNone/>
            </a:pPr>
            <a:r>
              <a:rPr b="1" lang="en" sz="342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Factors for Brand Lifting</a:t>
            </a:r>
            <a:endParaRPr b="1" sz="342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34"/>
          <p:cNvSpPr/>
          <p:nvPr/>
        </p:nvSpPr>
        <p:spPr>
          <a:xfrm rot="-8100000">
            <a:off x="8629948" y="-67752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4"/>
          <p:cNvSpPr/>
          <p:nvPr/>
        </p:nvSpPr>
        <p:spPr>
          <a:xfrm rot="-8100000">
            <a:off x="8629948" y="874548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4"/>
          <p:cNvSpPr/>
          <p:nvPr/>
        </p:nvSpPr>
        <p:spPr>
          <a:xfrm rot="-8100000">
            <a:off x="8629948" y="1821548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4"/>
          <p:cNvSpPr/>
          <p:nvPr/>
        </p:nvSpPr>
        <p:spPr>
          <a:xfrm rot="-8100000">
            <a:off x="-531077" y="41299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4"/>
          <p:cNvSpPr/>
          <p:nvPr/>
        </p:nvSpPr>
        <p:spPr>
          <a:xfrm rot="-8100000">
            <a:off x="-550002" y="32085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4"/>
          <p:cNvSpPr/>
          <p:nvPr/>
        </p:nvSpPr>
        <p:spPr>
          <a:xfrm rot="-8100000">
            <a:off x="-550002" y="2254948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4"/>
          <p:cNvSpPr/>
          <p:nvPr/>
        </p:nvSpPr>
        <p:spPr>
          <a:xfrm>
            <a:off x="-453825" y="0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4"/>
          <p:cNvSpPr/>
          <p:nvPr/>
        </p:nvSpPr>
        <p:spPr>
          <a:xfrm>
            <a:off x="8616000" y="4165338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/>
        </p:nvSpPr>
        <p:spPr>
          <a:xfrm>
            <a:off x="413125" y="255775"/>
            <a:ext cx="3536700" cy="44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700"/>
              <a:t>Statistical Validation (Z-test)</a:t>
            </a:r>
            <a:endParaRPr b="1" sz="1700"/>
          </a:p>
        </p:txBody>
      </p:sp>
      <p:sp>
        <p:nvSpPr>
          <p:cNvPr id="244" name="Google Shape;244;p35"/>
          <p:cNvSpPr txBox="1"/>
          <p:nvPr/>
        </p:nvSpPr>
        <p:spPr>
          <a:xfrm>
            <a:off x="5000975" y="255775"/>
            <a:ext cx="3869700" cy="44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lt1"/>
                </a:solidFill>
              </a:rPr>
              <a:t>Most Effective Campaign Spotlight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245" name="Google Shape;245;p35"/>
          <p:cNvSpPr txBox="1"/>
          <p:nvPr/>
        </p:nvSpPr>
        <p:spPr>
          <a:xfrm>
            <a:off x="413125" y="807850"/>
            <a:ext cx="3536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We applied a </a:t>
            </a:r>
            <a:r>
              <a:rPr b="1" lang="en" sz="1100"/>
              <a:t>Z-test</a:t>
            </a:r>
            <a:r>
              <a:rPr lang="en" sz="1100"/>
              <a:t> to all historical brand data to ensure our strategy is built on reliable evidence, not random noise.</a:t>
            </a:r>
            <a:endParaRPr sz="1100"/>
          </a:p>
        </p:txBody>
      </p:sp>
      <p:sp>
        <p:nvSpPr>
          <p:cNvPr id="246" name="Google Shape;246;p35"/>
          <p:cNvSpPr txBox="1"/>
          <p:nvPr/>
        </p:nvSpPr>
        <p:spPr>
          <a:xfrm>
            <a:off x="1702025" y="1775425"/>
            <a:ext cx="2513700" cy="86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Only campaigns with a </a:t>
            </a:r>
            <a:r>
              <a:rPr b="1" lang="en" sz="1100"/>
              <a:t>p-value &lt; 0.05</a:t>
            </a:r>
            <a:r>
              <a:rPr lang="en" sz="1100"/>
              <a:t> (95% Confidence Interval) were considered.</a:t>
            </a:r>
            <a:endParaRPr/>
          </a:p>
        </p:txBody>
      </p:sp>
      <p:sp>
        <p:nvSpPr>
          <p:cNvPr id="247" name="Google Shape;247;p35"/>
          <p:cNvSpPr txBox="1"/>
          <p:nvPr/>
        </p:nvSpPr>
        <p:spPr>
          <a:xfrm>
            <a:off x="5000975" y="763925"/>
            <a:ext cx="38697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The top performer identified across all data points is the </a:t>
            </a:r>
            <a:r>
              <a:rPr b="1" lang="en" sz="1100"/>
              <a:t>Gemini_GenZ_Video (YouTube | South Africa)</a:t>
            </a:r>
            <a:r>
              <a:rPr lang="en" sz="1100"/>
              <a:t>.</a:t>
            </a:r>
            <a:endParaRPr/>
          </a:p>
        </p:txBody>
      </p:sp>
      <p:sp>
        <p:nvSpPr>
          <p:cNvPr id="248" name="Google Shape;248;p35"/>
          <p:cNvSpPr txBox="1"/>
          <p:nvPr/>
        </p:nvSpPr>
        <p:spPr>
          <a:xfrm>
            <a:off x="6144000" y="1509200"/>
            <a:ext cx="2726700" cy="86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+24.1%</a:t>
            </a:r>
            <a:r>
              <a:rPr lang="en" sz="1100"/>
              <a:t>; </a:t>
            </a:r>
            <a:r>
              <a:rPr lang="en" sz="1100"/>
              <a:t>The highest increase in consideration across the 18-24 demographic.</a:t>
            </a:r>
            <a:endParaRPr/>
          </a:p>
        </p:txBody>
      </p:sp>
      <p:sp>
        <p:nvSpPr>
          <p:cNvPr id="249" name="Google Shape;249;p35"/>
          <p:cNvSpPr txBox="1"/>
          <p:nvPr/>
        </p:nvSpPr>
        <p:spPr>
          <a:xfrm>
            <a:off x="6144000" y="2719975"/>
            <a:ext cx="2726700" cy="60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Achieved</a:t>
            </a:r>
            <a:r>
              <a:rPr lang="en" sz="1100"/>
              <a:t> a </a:t>
            </a:r>
            <a:r>
              <a:rPr b="1" lang="en" sz="1100"/>
              <a:t>p-value of 0.004</a:t>
            </a:r>
            <a:r>
              <a:rPr lang="en" sz="1100"/>
              <a:t>, showing </a:t>
            </a:r>
            <a:r>
              <a:rPr lang="en" sz="1100"/>
              <a:t>certainty of campaign impact.</a:t>
            </a:r>
            <a:endParaRPr/>
          </a:p>
        </p:txBody>
      </p:sp>
      <p:sp>
        <p:nvSpPr>
          <p:cNvPr id="250" name="Google Shape;250;p35"/>
          <p:cNvSpPr txBox="1"/>
          <p:nvPr/>
        </p:nvSpPr>
        <p:spPr>
          <a:xfrm>
            <a:off x="413125" y="1862600"/>
            <a:ext cx="1130400" cy="646500"/>
          </a:xfrm>
          <a:prstGeom prst="rect">
            <a:avLst/>
          </a:prstGeom>
          <a:solidFill>
            <a:srgbClr val="A5B7C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/>
              <a:t>The Threshold</a:t>
            </a:r>
            <a:endParaRPr sz="1200"/>
          </a:p>
        </p:txBody>
      </p:sp>
      <p:sp>
        <p:nvSpPr>
          <p:cNvPr id="251" name="Google Shape;251;p35"/>
          <p:cNvSpPr txBox="1"/>
          <p:nvPr/>
        </p:nvSpPr>
        <p:spPr>
          <a:xfrm>
            <a:off x="413125" y="3581625"/>
            <a:ext cx="1130400" cy="646500"/>
          </a:xfrm>
          <a:prstGeom prst="rect">
            <a:avLst/>
          </a:prstGeom>
          <a:solidFill>
            <a:srgbClr val="A5B7C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/>
              <a:t>The Findings</a:t>
            </a:r>
            <a:endParaRPr sz="1200"/>
          </a:p>
        </p:txBody>
      </p:sp>
      <p:sp>
        <p:nvSpPr>
          <p:cNvPr id="252" name="Google Shape;252;p35"/>
          <p:cNvSpPr txBox="1"/>
          <p:nvPr/>
        </p:nvSpPr>
        <p:spPr>
          <a:xfrm>
            <a:off x="1702025" y="2888925"/>
            <a:ext cx="2513700" cy="203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Percentage of c</a:t>
            </a:r>
            <a:r>
              <a:rPr lang="en" sz="1100"/>
              <a:t>ampaigns in the High-Efficiency cluster (SA/EG) that were statistically significant is shown below: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72% of YouTube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68% of Search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15% of Display</a:t>
            </a:r>
            <a:r>
              <a:rPr lang="en" sz="1100"/>
              <a:t> </a:t>
            </a:r>
            <a:endParaRPr sz="1100"/>
          </a:p>
        </p:txBody>
      </p:sp>
      <p:sp>
        <p:nvSpPr>
          <p:cNvPr id="253" name="Google Shape;253;p35"/>
          <p:cNvSpPr txBox="1"/>
          <p:nvPr/>
        </p:nvSpPr>
        <p:spPr>
          <a:xfrm>
            <a:off x="4910975" y="1509200"/>
            <a:ext cx="1130400" cy="36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Relative Lift</a:t>
            </a:r>
            <a:r>
              <a:rPr lang="en" sz="1200">
                <a:solidFill>
                  <a:srgbClr val="FFFFFF"/>
                </a:solidFill>
              </a:rPr>
              <a:t>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4" name="Google Shape;254;p35"/>
          <p:cNvSpPr txBox="1"/>
          <p:nvPr/>
        </p:nvSpPr>
        <p:spPr>
          <a:xfrm>
            <a:off x="4910975" y="2700775"/>
            <a:ext cx="1130400" cy="64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Statistical Robustness</a:t>
            </a:r>
            <a:r>
              <a:rPr lang="en" sz="1200">
                <a:solidFill>
                  <a:srgbClr val="FFFFFF"/>
                </a:solidFill>
              </a:rPr>
              <a:t> 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4910975" y="3657750"/>
            <a:ext cx="1130400" cy="64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FFFFFF"/>
                </a:solidFill>
              </a:rPr>
              <a:t>Efficiency (CPLU)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6144000" y="3676950"/>
            <a:ext cx="2726700" cy="60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Achieved a </a:t>
            </a:r>
            <a:r>
              <a:rPr b="1" lang="en" sz="1100"/>
              <a:t>CPLU of $0.85</a:t>
            </a:r>
            <a:r>
              <a:rPr lang="en" sz="1100"/>
              <a:t>, significantly outperforming the average of $1.52.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>
            <p:ph type="title"/>
          </p:nvPr>
        </p:nvSpPr>
        <p:spPr>
          <a:xfrm>
            <a:off x="4960100" y="3546025"/>
            <a:ext cx="3828600" cy="1026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2.4x more cost-effective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lift brand consideration in the High-Efficiency cluster which allows Google to stretch its $10M budget further.</a:t>
            </a:r>
            <a:endParaRPr sz="3200"/>
          </a:p>
        </p:txBody>
      </p:sp>
      <p:pic>
        <p:nvPicPr>
          <p:cNvPr id="262" name="Google Shape;2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75" y="1134575"/>
            <a:ext cx="4580924" cy="3141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36"/>
          <p:cNvSpPr txBox="1"/>
          <p:nvPr/>
        </p:nvSpPr>
        <p:spPr>
          <a:xfrm>
            <a:off x="0" y="0"/>
            <a:ext cx="9144000" cy="6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Cost Per Lifted User (CPLU)</a:t>
            </a:r>
            <a:endParaRPr b="1" sz="27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4978850" y="1222325"/>
            <a:ext cx="3791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High-Efficiency Cluster (SA/EG):</a:t>
            </a:r>
            <a:r>
              <a:rPr lang="en" sz="1500"/>
              <a:t> </a:t>
            </a:r>
            <a:endParaRPr sz="15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Average CPLU </a:t>
            </a:r>
            <a:r>
              <a:rPr b="1" lang="en" sz="1200"/>
              <a:t>$0.88</a:t>
            </a:r>
            <a:r>
              <a:rPr lang="en" sz="1200"/>
              <a:t>.</a:t>
            </a:r>
            <a:endParaRPr sz="1200"/>
          </a:p>
        </p:txBody>
      </p:sp>
      <p:sp>
        <p:nvSpPr>
          <p:cNvPr id="265" name="Google Shape;265;p36"/>
          <p:cNvSpPr txBox="1"/>
          <p:nvPr/>
        </p:nvSpPr>
        <p:spPr>
          <a:xfrm>
            <a:off x="4978850" y="2141600"/>
            <a:ext cx="3791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Strategic Investment Cluster (UK/DE):</a:t>
            </a:r>
            <a:r>
              <a:rPr lang="en" sz="1500"/>
              <a:t> </a:t>
            </a:r>
            <a:endParaRPr sz="15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Average CPLU </a:t>
            </a:r>
            <a:r>
              <a:rPr b="1" lang="en" sz="1200"/>
              <a:t>$2.15</a:t>
            </a:r>
            <a:r>
              <a:rPr lang="en" sz="1200"/>
              <a:t>.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idx="4294967295" type="title"/>
          </p:nvPr>
        </p:nvSpPr>
        <p:spPr>
          <a:xfrm>
            <a:off x="3013511" y="1247793"/>
            <a:ext cx="3117000" cy="1005900"/>
          </a:xfrm>
          <a:prstGeom prst="rect">
            <a:avLst/>
          </a:prstGeom>
        </p:spPr>
        <p:txBody>
          <a:bodyPr anchorCtr="0" anchor="t" bIns="223450" lIns="223450" spcFirstLastPara="1" rIns="223450" wrap="square" tIns="22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54">
                <a:latin typeface="Sora ExtraBold"/>
                <a:ea typeface="Sora ExtraBold"/>
                <a:cs typeface="Sora ExtraBold"/>
                <a:sym typeface="Sora ExtraBold"/>
              </a:rPr>
              <a:t>04</a:t>
            </a:r>
            <a:endParaRPr sz="8554"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71" name="Google Shape;271;p37"/>
          <p:cNvSpPr txBox="1"/>
          <p:nvPr>
            <p:ph idx="4294967295" type="subTitle"/>
          </p:nvPr>
        </p:nvSpPr>
        <p:spPr>
          <a:xfrm>
            <a:off x="1561350" y="2786605"/>
            <a:ext cx="6021300" cy="625500"/>
          </a:xfrm>
          <a:prstGeom prst="rect">
            <a:avLst/>
          </a:prstGeom>
        </p:spPr>
        <p:txBody>
          <a:bodyPr anchorCtr="0" anchor="t" bIns="0" lIns="223450" spcFirstLastPara="1" rIns="22345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910"/>
              </a:spcAft>
              <a:buNone/>
            </a:pPr>
            <a:r>
              <a:rPr b="1" lang="en" sz="3421">
                <a:solidFill>
                  <a:schemeClr val="accent1"/>
                </a:solidFill>
                <a:latin typeface="Sora"/>
                <a:ea typeface="Sora"/>
                <a:cs typeface="Sora"/>
                <a:sym typeface="Sora"/>
              </a:rPr>
              <a:t>Best Adverts</a:t>
            </a:r>
            <a:endParaRPr b="1" sz="3421">
              <a:solidFill>
                <a:schemeClr val="accen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2" name="Google Shape;272;p37"/>
          <p:cNvSpPr/>
          <p:nvPr/>
        </p:nvSpPr>
        <p:spPr>
          <a:xfrm rot="-8100000">
            <a:off x="8611023" y="22501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7"/>
          <p:cNvSpPr/>
          <p:nvPr/>
        </p:nvSpPr>
        <p:spPr>
          <a:xfrm rot="-8100000">
            <a:off x="8611023" y="31924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7"/>
          <p:cNvSpPr/>
          <p:nvPr/>
        </p:nvSpPr>
        <p:spPr>
          <a:xfrm rot="-8100000">
            <a:off x="8611023" y="41394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7"/>
          <p:cNvSpPr/>
          <p:nvPr/>
        </p:nvSpPr>
        <p:spPr>
          <a:xfrm rot="-8100000">
            <a:off x="-531077" y="1799410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7"/>
          <p:cNvSpPr/>
          <p:nvPr/>
        </p:nvSpPr>
        <p:spPr>
          <a:xfrm rot="-8100000">
            <a:off x="-550002" y="878010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7"/>
          <p:cNvSpPr/>
          <p:nvPr/>
        </p:nvSpPr>
        <p:spPr>
          <a:xfrm rot="-8100000">
            <a:off x="-550002" y="-75615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7"/>
          <p:cNvSpPr/>
          <p:nvPr/>
        </p:nvSpPr>
        <p:spPr>
          <a:xfrm>
            <a:off x="-514625" y="4155600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7"/>
          <p:cNvSpPr/>
          <p:nvPr/>
        </p:nvSpPr>
        <p:spPr>
          <a:xfrm>
            <a:off x="8646400" y="-40237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88" y="359488"/>
            <a:ext cx="4362826" cy="26677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5" name="Google Shape;285;p38"/>
          <p:cNvSpPr txBox="1"/>
          <p:nvPr/>
        </p:nvSpPr>
        <p:spPr>
          <a:xfrm>
            <a:off x="212738" y="3390900"/>
            <a:ext cx="4139100" cy="136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 across all regions shows that the </a:t>
            </a:r>
            <a:r>
              <a:rPr b="1" lang="en"/>
              <a:t>"Life Hack"</a:t>
            </a:r>
            <a:r>
              <a:rPr lang="en"/>
              <a:t> creative outperformed other assets (Product Demo, Speed of Thought, Academic Ethics) in the 18-24 age group.</a:t>
            </a:r>
            <a:endParaRPr/>
          </a:p>
        </p:txBody>
      </p:sp>
      <p:sp>
        <p:nvSpPr>
          <p:cNvPr id="286" name="Google Shape;286;p38"/>
          <p:cNvSpPr txBox="1"/>
          <p:nvPr/>
        </p:nvSpPr>
        <p:spPr>
          <a:xfrm>
            <a:off x="4995325" y="359500"/>
            <a:ext cx="3767700" cy="4617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Point Estimate of Consideration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5778625" y="821200"/>
            <a:ext cx="2211900" cy="415500"/>
          </a:xfrm>
          <a:prstGeom prst="rect">
            <a:avLst/>
          </a:prstGeom>
          <a:solidFill>
            <a:srgbClr val="435D7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D6DBE0"/>
                </a:solidFill>
              </a:rPr>
              <a:t>“Life Hack” =</a:t>
            </a:r>
            <a:r>
              <a:rPr b="1" lang="en" sz="1500">
                <a:solidFill>
                  <a:srgbClr val="D6DBE0"/>
                </a:solidFill>
              </a:rPr>
              <a:t> </a:t>
            </a:r>
            <a:r>
              <a:rPr b="1" lang="en" sz="1500">
                <a:solidFill>
                  <a:srgbClr val="D6DBE0"/>
                </a:solidFill>
              </a:rPr>
              <a:t>0.78</a:t>
            </a:r>
            <a:r>
              <a:rPr lang="en" sz="1500">
                <a:solidFill>
                  <a:srgbClr val="D6DBE0"/>
                </a:solidFill>
              </a:rPr>
              <a:t> </a:t>
            </a:r>
            <a:endParaRPr sz="1500">
              <a:solidFill>
                <a:srgbClr val="D6DBE0"/>
              </a:solidFill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4995325" y="1418150"/>
            <a:ext cx="3767700" cy="4617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Relative Performance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5229625" y="1879850"/>
            <a:ext cx="3309900" cy="1108200"/>
          </a:xfrm>
          <a:prstGeom prst="rect">
            <a:avLst/>
          </a:prstGeom>
          <a:solidFill>
            <a:srgbClr val="435D7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D6DBE0"/>
                </a:solidFill>
              </a:rPr>
              <a:t>“Life Hack” </a:t>
            </a:r>
            <a:r>
              <a:rPr lang="en" sz="1500">
                <a:solidFill>
                  <a:srgbClr val="D6DBE0"/>
                </a:solidFill>
              </a:rPr>
              <a:t>drove a </a:t>
            </a:r>
            <a:r>
              <a:rPr b="1" lang="en" sz="1500">
                <a:solidFill>
                  <a:srgbClr val="D6DBE0"/>
                </a:solidFill>
              </a:rPr>
              <a:t>+12% higher lift</a:t>
            </a:r>
            <a:r>
              <a:rPr lang="en" sz="1500">
                <a:solidFill>
                  <a:srgbClr val="D6DBE0"/>
                </a:solidFill>
              </a:rPr>
              <a:t> in consideration compared to the “Product Demo” version.</a:t>
            </a:r>
            <a:endParaRPr sz="1500">
              <a:solidFill>
                <a:srgbClr val="D6DBE0"/>
              </a:solidFill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4918825" y="3189800"/>
            <a:ext cx="3767700" cy="4617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Possible Reason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91" name="Google Shape;291;p38"/>
          <p:cNvSpPr txBox="1"/>
          <p:nvPr/>
        </p:nvSpPr>
        <p:spPr>
          <a:xfrm>
            <a:off x="5147725" y="3651500"/>
            <a:ext cx="3309900" cy="1108200"/>
          </a:xfrm>
          <a:prstGeom prst="rect">
            <a:avLst/>
          </a:prstGeom>
          <a:solidFill>
            <a:srgbClr val="435D7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D6DBE0"/>
                </a:solidFill>
              </a:rPr>
              <a:t>Students react to Gemini Pro as a </a:t>
            </a:r>
            <a:r>
              <a:rPr b="1" lang="en" sz="1500">
                <a:solidFill>
                  <a:srgbClr val="D6DBE0"/>
                </a:solidFill>
              </a:rPr>
              <a:t>productivity partner</a:t>
            </a:r>
            <a:r>
              <a:rPr lang="en" sz="1500">
                <a:solidFill>
                  <a:srgbClr val="D6DBE0"/>
                </a:solidFill>
              </a:rPr>
              <a:t> rather than just a search engine.</a:t>
            </a:r>
            <a:endParaRPr sz="1500">
              <a:solidFill>
                <a:srgbClr val="D6DBE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" name="Google Shape;296;p39"/>
          <p:cNvGraphicFramePr/>
          <p:nvPr/>
        </p:nvGraphicFramePr>
        <p:xfrm>
          <a:off x="136450" y="130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{881A0156-AFD6-467F-847C-F2A3429DA5DD}</a:tableStyleId>
              </a:tblPr>
              <a:tblGrid>
                <a:gridCol w="2883000"/>
                <a:gridCol w="1132225"/>
                <a:gridCol w="13713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Market Cluster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Avg. CPA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Conversion Intent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High-Efficiency (SA/EG)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$12.75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Very High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Strategic Investment (UK/DE)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$48.00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Moderate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39"/>
          <p:cNvSpPr txBox="1"/>
          <p:nvPr>
            <p:ph idx="4294967295" type="subTitle"/>
          </p:nvPr>
        </p:nvSpPr>
        <p:spPr>
          <a:xfrm>
            <a:off x="136450" y="869525"/>
            <a:ext cx="6724800" cy="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300">
                <a:latin typeface="Sora"/>
                <a:ea typeface="Sora"/>
                <a:cs typeface="Sora"/>
                <a:sym typeface="Sora"/>
              </a:rPr>
              <a:t>Performance Summary Table</a:t>
            </a:r>
            <a:endParaRPr b="1" sz="1300">
              <a:latin typeface="Sora"/>
              <a:ea typeface="Sora"/>
              <a:cs typeface="Sora"/>
              <a:sym typeface="Sora"/>
            </a:endParaRPr>
          </a:p>
        </p:txBody>
      </p:sp>
      <p:graphicFrame>
        <p:nvGraphicFramePr>
          <p:cNvPr id="298" name="Google Shape;298;p39"/>
          <p:cNvGraphicFramePr/>
          <p:nvPr/>
        </p:nvGraphicFramePr>
        <p:xfrm>
          <a:off x="136450" y="283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{881A0156-AFD6-467F-847C-F2A3429DA5DD}</a:tableStyleId>
              </a:tblPr>
              <a:tblGrid>
                <a:gridCol w="602875"/>
                <a:gridCol w="2372050"/>
                <a:gridCol w="834875"/>
                <a:gridCol w="1004500"/>
              </a:tblGrid>
              <a:tr h="53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Rank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Campaign Name (Market/Channel)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Absolute Lift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CPLU (Efficiency)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3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Gemini_GenZ_Video (SA / YouTube)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4.2%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$0.85</a:t>
                      </a: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 (Best)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Student_LifeHacks (EG / Social)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3.8%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$0.92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3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Gemini_Pro_Academic (UK / YouTube)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1.5%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$2.10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39"/>
          <p:cNvSpPr txBox="1"/>
          <p:nvPr>
            <p:ph idx="4294967295" type="subTitle"/>
          </p:nvPr>
        </p:nvSpPr>
        <p:spPr>
          <a:xfrm>
            <a:off x="136450" y="2391124"/>
            <a:ext cx="3126000" cy="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300">
                <a:latin typeface="Sora"/>
                <a:ea typeface="Sora"/>
                <a:cs typeface="Sora"/>
                <a:sym typeface="Sora"/>
              </a:rPr>
              <a:t>Most Efficient Campaigns</a:t>
            </a:r>
            <a:endParaRPr b="1"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0" name="Google Shape;300;p39"/>
          <p:cNvSpPr txBox="1"/>
          <p:nvPr>
            <p:ph idx="4294967295" type="title"/>
          </p:nvPr>
        </p:nvSpPr>
        <p:spPr>
          <a:xfrm>
            <a:off x="25" y="0"/>
            <a:ext cx="9144000" cy="7578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Sora"/>
                <a:ea typeface="Sora"/>
                <a:cs typeface="Sora"/>
                <a:sym typeface="Sora"/>
              </a:rPr>
              <a:t>Overall analysis findings</a:t>
            </a:r>
            <a:endParaRPr b="1" sz="3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1" name="Google Shape;301;p39"/>
          <p:cNvGraphicFramePr/>
          <p:nvPr/>
        </p:nvGraphicFramePr>
        <p:xfrm>
          <a:off x="5121475" y="277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{881A0156-AFD6-467F-847C-F2A3429DA5DD}</a:tableStyleId>
              </a:tblPr>
              <a:tblGrid>
                <a:gridCol w="862125"/>
                <a:gridCol w="1025550"/>
                <a:gridCol w="862125"/>
                <a:gridCol w="9072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Creative Theme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Consideration Score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Avg. Watch Time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Engagement Rate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Life Hack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0.78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18.4s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4.2%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Speed of Thought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0.72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14.1s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3.5%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Product Demo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0.58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9.8s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2.1%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2" name="Google Shape;302;p39"/>
          <p:cNvSpPr txBox="1"/>
          <p:nvPr>
            <p:ph idx="4294967295" type="subTitle"/>
          </p:nvPr>
        </p:nvSpPr>
        <p:spPr>
          <a:xfrm>
            <a:off x="5121475" y="2337275"/>
            <a:ext cx="3428100" cy="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300">
                <a:latin typeface="Sora"/>
                <a:ea typeface="Sora"/>
                <a:cs typeface="Sora"/>
                <a:sym typeface="Sora"/>
              </a:rPr>
              <a:t>Performance Metrics (18-24)</a:t>
            </a:r>
            <a:endParaRPr b="1" sz="13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/>
          <p:nvPr>
            <p:ph idx="4294967295" type="title"/>
          </p:nvPr>
        </p:nvSpPr>
        <p:spPr>
          <a:xfrm>
            <a:off x="3013511" y="1259843"/>
            <a:ext cx="3117000" cy="1005900"/>
          </a:xfrm>
          <a:prstGeom prst="rect">
            <a:avLst/>
          </a:prstGeom>
        </p:spPr>
        <p:txBody>
          <a:bodyPr anchorCtr="0" anchor="t" bIns="223450" lIns="223450" spcFirstLastPara="1" rIns="223450" wrap="square" tIns="22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54">
                <a:latin typeface="Sora ExtraBold"/>
                <a:ea typeface="Sora ExtraBold"/>
                <a:cs typeface="Sora ExtraBold"/>
                <a:sym typeface="Sora ExtraBold"/>
              </a:rPr>
              <a:t>05</a:t>
            </a:r>
            <a:endParaRPr sz="8554"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308" name="Google Shape;308;p40"/>
          <p:cNvSpPr txBox="1"/>
          <p:nvPr>
            <p:ph idx="4294967295" type="subTitle"/>
          </p:nvPr>
        </p:nvSpPr>
        <p:spPr>
          <a:xfrm>
            <a:off x="650550" y="2838450"/>
            <a:ext cx="7842900" cy="625500"/>
          </a:xfrm>
          <a:prstGeom prst="rect">
            <a:avLst/>
          </a:prstGeom>
        </p:spPr>
        <p:txBody>
          <a:bodyPr anchorCtr="0" anchor="t" bIns="0" lIns="223450" spcFirstLastPara="1" rIns="22345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910"/>
              </a:spcAft>
              <a:buNone/>
            </a:pPr>
            <a:r>
              <a:rPr b="1" lang="en" sz="342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Strategy Recommendation</a:t>
            </a:r>
            <a:endParaRPr b="1" sz="342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9" name="Google Shape;309;p40"/>
          <p:cNvSpPr/>
          <p:nvPr/>
        </p:nvSpPr>
        <p:spPr>
          <a:xfrm rot="-8100000">
            <a:off x="8579273" y="-24577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0"/>
          <p:cNvSpPr/>
          <p:nvPr/>
        </p:nvSpPr>
        <p:spPr>
          <a:xfrm rot="-8100000">
            <a:off x="8579273" y="91772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0"/>
          <p:cNvSpPr/>
          <p:nvPr/>
        </p:nvSpPr>
        <p:spPr>
          <a:xfrm rot="-8100000">
            <a:off x="8579273" y="186472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0"/>
          <p:cNvSpPr/>
          <p:nvPr/>
        </p:nvSpPr>
        <p:spPr>
          <a:xfrm rot="-8100000">
            <a:off x="-480402" y="41299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0"/>
          <p:cNvSpPr/>
          <p:nvPr/>
        </p:nvSpPr>
        <p:spPr>
          <a:xfrm rot="-8100000">
            <a:off x="-499327" y="3208573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0"/>
          <p:cNvSpPr/>
          <p:nvPr/>
        </p:nvSpPr>
        <p:spPr>
          <a:xfrm rot="-8100000">
            <a:off x="-499327" y="2254948"/>
            <a:ext cx="1064054" cy="1064054"/>
          </a:xfrm>
          <a:prstGeom prst="plus">
            <a:avLst>
              <a:gd fmla="val 37334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0"/>
          <p:cNvSpPr/>
          <p:nvPr/>
        </p:nvSpPr>
        <p:spPr>
          <a:xfrm>
            <a:off x="-513525" y="0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0"/>
          <p:cNvSpPr/>
          <p:nvPr/>
        </p:nvSpPr>
        <p:spPr>
          <a:xfrm>
            <a:off x="8565325" y="4165338"/>
            <a:ext cx="993300" cy="993300"/>
          </a:xfrm>
          <a:prstGeom prst="donut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>
            <p:ph type="title"/>
          </p:nvPr>
        </p:nvSpPr>
        <p:spPr>
          <a:xfrm>
            <a:off x="679500" y="375850"/>
            <a:ext cx="7785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ExtraBold"/>
                <a:ea typeface="Sora ExtraBold"/>
                <a:cs typeface="Sora ExtraBold"/>
                <a:sym typeface="Sora ExtraBold"/>
              </a:rPr>
              <a:t>Strategy</a:t>
            </a:r>
            <a:endParaRPr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322" name="Google Shape;322;p41"/>
          <p:cNvSpPr/>
          <p:nvPr/>
        </p:nvSpPr>
        <p:spPr>
          <a:xfrm>
            <a:off x="288863" y="2466488"/>
            <a:ext cx="1607400" cy="88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$10M Budget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3" name="Google Shape;323;p41"/>
          <p:cNvSpPr/>
          <p:nvPr/>
        </p:nvSpPr>
        <p:spPr>
          <a:xfrm>
            <a:off x="2623025" y="1547938"/>
            <a:ext cx="2011800" cy="47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$6.5M</a:t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4" name="Google Shape;324;p41"/>
          <p:cNvSpPr/>
          <p:nvPr/>
        </p:nvSpPr>
        <p:spPr>
          <a:xfrm>
            <a:off x="2623025" y="3447263"/>
            <a:ext cx="2011800" cy="47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$3.5M</a:t>
            </a:r>
            <a:endParaRPr sz="2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25" name="Google Shape;325;p41"/>
          <p:cNvCxnSpPr>
            <a:stCxn id="322" idx="3"/>
            <a:endCxn id="323" idx="1"/>
          </p:cNvCxnSpPr>
          <p:nvPr/>
        </p:nvCxnSpPr>
        <p:spPr>
          <a:xfrm flipH="1" rot="10800000">
            <a:off x="1896263" y="1783538"/>
            <a:ext cx="726900" cy="1125000"/>
          </a:xfrm>
          <a:prstGeom prst="bentConnector3">
            <a:avLst>
              <a:gd fmla="val 49991" name="adj1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41"/>
          <p:cNvCxnSpPr>
            <a:stCxn id="322" idx="3"/>
            <a:endCxn id="324" idx="1"/>
          </p:cNvCxnSpPr>
          <p:nvPr/>
        </p:nvCxnSpPr>
        <p:spPr>
          <a:xfrm>
            <a:off x="1896263" y="2908538"/>
            <a:ext cx="726900" cy="774300"/>
          </a:xfrm>
          <a:prstGeom prst="bentConnector3">
            <a:avLst>
              <a:gd fmla="val 49991" name="adj1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41"/>
          <p:cNvSpPr txBox="1"/>
          <p:nvPr/>
        </p:nvSpPr>
        <p:spPr>
          <a:xfrm>
            <a:off x="5136288" y="1259813"/>
            <a:ext cx="3777900" cy="47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High-Efficiency Cluster </a:t>
            </a:r>
            <a:endParaRPr sz="18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28" name="Google Shape;328;p41"/>
          <p:cNvSpPr txBox="1"/>
          <p:nvPr/>
        </p:nvSpPr>
        <p:spPr>
          <a:xfrm>
            <a:off x="5136151" y="1715538"/>
            <a:ext cx="3777900" cy="10836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Goal:</a:t>
            </a:r>
            <a:r>
              <a:rPr lang="en">
                <a:solidFill>
                  <a:schemeClr val="dk1"/>
                </a:solidFill>
              </a:rPr>
              <a:t> Maximize sign-up volume.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Logic:</a:t>
            </a:r>
            <a:r>
              <a:rPr lang="en">
                <a:solidFill>
                  <a:schemeClr val="dk1"/>
                </a:solidFill>
              </a:rPr>
              <a:t> $12.75 CPA; this allocation will generate approximately </a:t>
            </a:r>
            <a:r>
              <a:rPr b="1" lang="en">
                <a:solidFill>
                  <a:schemeClr val="dk1"/>
                </a:solidFill>
              </a:rPr>
              <a:t>510,000 sign-ups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29" name="Google Shape;329;p41"/>
          <p:cNvCxnSpPr>
            <a:stCxn id="323" idx="3"/>
          </p:cNvCxnSpPr>
          <p:nvPr/>
        </p:nvCxnSpPr>
        <p:spPr>
          <a:xfrm flipH="1" rot="10800000">
            <a:off x="4634825" y="1778338"/>
            <a:ext cx="501300" cy="5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41"/>
          <p:cNvSpPr txBox="1"/>
          <p:nvPr/>
        </p:nvSpPr>
        <p:spPr>
          <a:xfrm>
            <a:off x="5136213" y="3020863"/>
            <a:ext cx="3777900" cy="47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 Strategic Investment Cluster</a:t>
            </a:r>
            <a:endParaRPr sz="1800"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31" name="Google Shape;331;p41"/>
          <p:cNvSpPr txBox="1"/>
          <p:nvPr/>
        </p:nvSpPr>
        <p:spPr>
          <a:xfrm>
            <a:off x="5136100" y="3476600"/>
            <a:ext cx="3777900" cy="15504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Goal:</a:t>
            </a:r>
            <a:r>
              <a:rPr lang="en" sz="1300"/>
              <a:t> High-value user acquisition and brand presence.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Logic:</a:t>
            </a:r>
            <a:r>
              <a:rPr lang="en" sz="1300"/>
              <a:t> Despite the higher $48 CPA, these markets are essential for global scale and high lifetime value.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332" name="Google Shape;332;p41"/>
          <p:cNvCxnSpPr/>
          <p:nvPr/>
        </p:nvCxnSpPr>
        <p:spPr>
          <a:xfrm flipH="1" rot="10800000">
            <a:off x="4634825" y="3680213"/>
            <a:ext cx="501300" cy="5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/>
          <p:nvPr>
            <p:ph idx="15" type="title"/>
          </p:nvPr>
        </p:nvSpPr>
        <p:spPr>
          <a:xfrm>
            <a:off x="273675" y="1284975"/>
            <a:ext cx="2381100" cy="206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Channel Budget Strategy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8" name="Google Shape;338;p42"/>
          <p:cNvSpPr/>
          <p:nvPr/>
        </p:nvSpPr>
        <p:spPr>
          <a:xfrm rot="10800000">
            <a:off x="715097" y="517591"/>
            <a:ext cx="915000" cy="2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2"/>
          <p:cNvSpPr/>
          <p:nvPr/>
        </p:nvSpPr>
        <p:spPr>
          <a:xfrm rot="10800000">
            <a:off x="0" y="-643375"/>
            <a:ext cx="1280100" cy="12801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2"/>
          <p:cNvSpPr/>
          <p:nvPr/>
        </p:nvSpPr>
        <p:spPr>
          <a:xfrm>
            <a:off x="-523225" y="4472950"/>
            <a:ext cx="1002000" cy="866700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grpSp>
        <p:nvGrpSpPr>
          <p:cNvPr id="341" name="Google Shape;341;p42"/>
          <p:cNvGrpSpPr/>
          <p:nvPr/>
        </p:nvGrpSpPr>
        <p:grpSpPr>
          <a:xfrm>
            <a:off x="2654768" y="446612"/>
            <a:ext cx="1124636" cy="1124636"/>
            <a:chOff x="2218613" y="2605975"/>
            <a:chExt cx="948900" cy="948900"/>
          </a:xfrm>
        </p:grpSpPr>
        <p:sp>
          <p:nvSpPr>
            <p:cNvPr id="342" name="Google Shape;342;p42"/>
            <p:cNvSpPr/>
            <p:nvPr/>
          </p:nvSpPr>
          <p:spPr>
            <a:xfrm>
              <a:off x="2218613" y="2606125"/>
              <a:ext cx="948900" cy="948600"/>
            </a:xfrm>
            <a:prstGeom prst="donut">
              <a:avLst>
                <a:gd fmla="val 13685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2"/>
            <p:cNvSpPr/>
            <p:nvPr/>
          </p:nvSpPr>
          <p:spPr>
            <a:xfrm flipH="1" rot="5400000">
              <a:off x="2218613" y="2606125"/>
              <a:ext cx="948900" cy="948600"/>
            </a:xfrm>
            <a:prstGeom prst="blockArc">
              <a:avLst>
                <a:gd fmla="val 12990505" name="adj1"/>
                <a:gd fmla="val 21598127" name="adj2"/>
                <a:gd fmla="val 13742" name="adj3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42"/>
          <p:cNvGrpSpPr/>
          <p:nvPr/>
        </p:nvGrpSpPr>
        <p:grpSpPr>
          <a:xfrm>
            <a:off x="2654768" y="2043962"/>
            <a:ext cx="1124636" cy="1124636"/>
            <a:chOff x="2218613" y="2605975"/>
            <a:chExt cx="948900" cy="948900"/>
          </a:xfrm>
        </p:grpSpPr>
        <p:sp>
          <p:nvSpPr>
            <p:cNvPr id="345" name="Google Shape;345;p42"/>
            <p:cNvSpPr/>
            <p:nvPr/>
          </p:nvSpPr>
          <p:spPr>
            <a:xfrm>
              <a:off x="2218613" y="2606125"/>
              <a:ext cx="948900" cy="948600"/>
            </a:xfrm>
            <a:prstGeom prst="donut">
              <a:avLst>
                <a:gd fmla="val 13685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2"/>
            <p:cNvSpPr/>
            <p:nvPr/>
          </p:nvSpPr>
          <p:spPr>
            <a:xfrm flipH="1" rot="5400000">
              <a:off x="2218613" y="2606125"/>
              <a:ext cx="948900" cy="948600"/>
            </a:xfrm>
            <a:prstGeom prst="blockArc">
              <a:avLst>
                <a:gd fmla="val 9903753" name="adj1"/>
                <a:gd fmla="val 21598127" name="adj2"/>
                <a:gd fmla="val 13742" name="adj3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42"/>
          <p:cNvGrpSpPr/>
          <p:nvPr/>
        </p:nvGrpSpPr>
        <p:grpSpPr>
          <a:xfrm>
            <a:off x="2654768" y="3641312"/>
            <a:ext cx="1124636" cy="1124636"/>
            <a:chOff x="2218613" y="2605975"/>
            <a:chExt cx="948900" cy="948900"/>
          </a:xfrm>
        </p:grpSpPr>
        <p:sp>
          <p:nvSpPr>
            <p:cNvPr id="348" name="Google Shape;348;p42"/>
            <p:cNvSpPr/>
            <p:nvPr/>
          </p:nvSpPr>
          <p:spPr>
            <a:xfrm>
              <a:off x="2218613" y="2606125"/>
              <a:ext cx="948900" cy="948600"/>
            </a:xfrm>
            <a:prstGeom prst="donut">
              <a:avLst>
                <a:gd fmla="val 13685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2"/>
            <p:cNvSpPr/>
            <p:nvPr/>
          </p:nvSpPr>
          <p:spPr>
            <a:xfrm flipH="1" rot="5400000">
              <a:off x="2218613" y="2606125"/>
              <a:ext cx="948900" cy="948600"/>
            </a:xfrm>
            <a:prstGeom prst="blockArc">
              <a:avLst>
                <a:gd fmla="val 20220423" name="adj1"/>
                <a:gd fmla="val 21598127" name="adj2"/>
                <a:gd fmla="val 13742" name="adj3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42"/>
          <p:cNvSpPr txBox="1"/>
          <p:nvPr>
            <p:ph idx="1" type="subTitle"/>
          </p:nvPr>
        </p:nvSpPr>
        <p:spPr>
          <a:xfrm>
            <a:off x="5021075" y="1079800"/>
            <a:ext cx="30321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Sora"/>
                <a:ea typeface="Sora"/>
                <a:cs typeface="Sora"/>
                <a:sym typeface="Sora"/>
              </a:rPr>
              <a:t>Capturing high-intent students at the lowest CPA ($7.69).</a:t>
            </a:r>
            <a:endParaRPr sz="11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42"/>
          <p:cNvSpPr txBox="1"/>
          <p:nvPr>
            <p:ph idx="15" type="title"/>
          </p:nvPr>
        </p:nvSpPr>
        <p:spPr>
          <a:xfrm>
            <a:off x="5545475" y="3272338"/>
            <a:ext cx="22770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rPr>
              <a:t>5%</a:t>
            </a:r>
            <a:endParaRPr>
              <a:solidFill>
                <a:schemeClr val="accent3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52" name="Google Shape;352;p42"/>
          <p:cNvSpPr txBox="1"/>
          <p:nvPr>
            <p:ph idx="19" type="subTitle"/>
          </p:nvPr>
        </p:nvSpPr>
        <p:spPr>
          <a:xfrm>
            <a:off x="5897075" y="833125"/>
            <a:ext cx="1280100" cy="35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</a:t>
            </a:r>
            <a:endParaRPr/>
          </a:p>
        </p:txBody>
      </p:sp>
      <p:sp>
        <p:nvSpPr>
          <p:cNvPr id="353" name="Google Shape;353;p42"/>
          <p:cNvSpPr txBox="1"/>
          <p:nvPr>
            <p:ph idx="4294967295" type="title"/>
          </p:nvPr>
        </p:nvSpPr>
        <p:spPr>
          <a:xfrm>
            <a:off x="5398625" y="236738"/>
            <a:ext cx="2277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rPr>
              <a:t>40%</a:t>
            </a:r>
            <a:endParaRPr sz="3000">
              <a:solidFill>
                <a:schemeClr val="accent3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54" name="Google Shape;354;p42"/>
          <p:cNvSpPr txBox="1"/>
          <p:nvPr>
            <p:ph type="title"/>
          </p:nvPr>
        </p:nvSpPr>
        <p:spPr>
          <a:xfrm>
            <a:off x="5398625" y="1754538"/>
            <a:ext cx="22770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rPr>
              <a:t>5</a:t>
            </a:r>
            <a:r>
              <a:rPr lang="en" sz="3000">
                <a:solidFill>
                  <a:schemeClr val="accent3"/>
                </a:solidFill>
              </a:rPr>
              <a:t>5</a:t>
            </a:r>
            <a:r>
              <a:rPr lang="en" sz="3000">
                <a:solidFill>
                  <a:schemeClr val="accent3"/>
                </a:solidFill>
                <a:latin typeface="Sora SemiBold"/>
                <a:ea typeface="Sora SemiBold"/>
                <a:cs typeface="Sora SemiBold"/>
                <a:sym typeface="Sora SemiBold"/>
              </a:rPr>
              <a:t>%</a:t>
            </a:r>
            <a:endParaRPr sz="3000">
              <a:solidFill>
                <a:schemeClr val="accent3"/>
              </a:solidFill>
              <a:latin typeface="Sora SemiBold"/>
              <a:ea typeface="Sora SemiBold"/>
              <a:cs typeface="Sora SemiBold"/>
              <a:sym typeface="Sora SemiBold"/>
            </a:endParaRPr>
          </a:p>
        </p:txBody>
      </p:sp>
      <p:sp>
        <p:nvSpPr>
          <p:cNvPr id="355" name="Google Shape;355;p42"/>
          <p:cNvSpPr txBox="1"/>
          <p:nvPr>
            <p:ph idx="19" type="subTitle"/>
          </p:nvPr>
        </p:nvSpPr>
        <p:spPr>
          <a:xfrm>
            <a:off x="5251775" y="2327075"/>
            <a:ext cx="2570700" cy="35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YouTube &amp; Social </a:t>
            </a:r>
            <a:endParaRPr/>
          </a:p>
        </p:txBody>
      </p:sp>
      <p:sp>
        <p:nvSpPr>
          <p:cNvPr id="356" name="Google Shape;356;p42"/>
          <p:cNvSpPr txBox="1"/>
          <p:nvPr>
            <p:ph idx="1" type="subTitle"/>
          </p:nvPr>
        </p:nvSpPr>
        <p:spPr>
          <a:xfrm>
            <a:off x="4497925" y="2590125"/>
            <a:ext cx="41169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Utilizing the </a:t>
            </a:r>
            <a:r>
              <a:rPr b="1" lang="en" sz="11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"Life Hack"</a:t>
            </a:r>
            <a:r>
              <a:rPr lang="en" sz="11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 creative to drive brand lift and reach the 18-24 demographic at scale.</a:t>
            </a:r>
            <a:endParaRPr/>
          </a:p>
        </p:txBody>
      </p:sp>
      <p:sp>
        <p:nvSpPr>
          <p:cNvPr id="357" name="Google Shape;357;p42"/>
          <p:cNvSpPr txBox="1"/>
          <p:nvPr>
            <p:ph idx="19" type="subTitle"/>
          </p:nvPr>
        </p:nvSpPr>
        <p:spPr>
          <a:xfrm>
            <a:off x="4192625" y="3641300"/>
            <a:ext cx="46890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Retargeting</a:t>
            </a:r>
            <a:endParaRPr/>
          </a:p>
        </p:txBody>
      </p:sp>
      <p:sp>
        <p:nvSpPr>
          <p:cNvPr id="358" name="Google Shape;358;p42"/>
          <p:cNvSpPr txBox="1"/>
          <p:nvPr>
            <p:ph idx="1" type="subTitle"/>
          </p:nvPr>
        </p:nvSpPr>
        <p:spPr>
          <a:xfrm>
            <a:off x="4582475" y="4180700"/>
            <a:ext cx="4116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Limited spend to re-engage users who started the sign-up process but didn't finish.</a:t>
            </a:r>
            <a:endParaRPr sz="11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/>
          <p:nvPr/>
        </p:nvSpPr>
        <p:spPr>
          <a:xfrm>
            <a:off x="1301400" y="1791450"/>
            <a:ext cx="6541200" cy="15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THANK YOU</a:t>
            </a:r>
            <a:endParaRPr b="1" sz="75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for Social Media MK Plan by Slidesgo">
  <a:themeElements>
    <a:clrScheme name="Simple Light">
      <a:dk1>
        <a:srgbClr val="281F12"/>
      </a:dk1>
      <a:lt1>
        <a:srgbClr val="EEF0E9"/>
      </a:lt1>
      <a:dk2>
        <a:srgbClr val="48392E"/>
      </a:dk2>
      <a:lt2>
        <a:srgbClr val="B1B4A6"/>
      </a:lt2>
      <a:accent1>
        <a:srgbClr val="935C3B"/>
      </a:accent1>
      <a:accent2>
        <a:srgbClr val="B9928B"/>
      </a:accent2>
      <a:accent3>
        <a:srgbClr val="899AA3"/>
      </a:accent3>
      <a:accent4>
        <a:srgbClr val="C38A67"/>
      </a:accent4>
      <a:accent5>
        <a:srgbClr val="E4CFCB"/>
      </a:accent5>
      <a:accent6>
        <a:srgbClr val="C0D0D8"/>
      </a:accent6>
      <a:hlink>
        <a:srgbClr val="4839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